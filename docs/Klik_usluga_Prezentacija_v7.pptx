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Bruto prihod (EUR)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3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Konzervativan
50% obima</c:v>
                  </c:pt>
                  <c:pt idx="1">
                    <c:v>Umeren
75% obima</c:v>
                  </c:pt>
                  <c:pt idx="2">
                    <c:v>Ciljni
100% obima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14850</c:v>
                </c:pt>
                <c:pt idx="1">
                  <c:v>22275</c:v>
                </c:pt>
                <c:pt idx="2">
                  <c:v>29700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Neto dobit (EUR)</c:v>
                </c:pt>
              </c:strCache>
            </c:strRef>
          </c:tx>
          <c:spPr>
            <a:solidFill>
              <a:srgbClr val="D269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33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Konzervativan
50% obima</c:v>
                  </c:pt>
                  <c:pt idx="1">
                    <c:v>Umeren
75% obima</c:v>
                  </c:pt>
                  <c:pt idx="2">
                    <c:v>Ciljni
100% obima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11350</c:v>
                </c:pt>
                <c:pt idx="1">
                  <c:v>18775</c:v>
                </c:pt>
                <c:pt idx="2">
                  <c:v>26200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33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03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00"/>
          <c:min val="0"/>
        </c:scaling>
        <c:delete val="0"/>
        <c:axPos val="l"/>
        <c:majorGridlines>
          <c:spPr>
            <a:ln w="12700" cap="flat">
              <a:solidFill>
                <a:srgbClr val="D5DE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E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033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Naziv promenjen iz KlikMajstor u Klik usluga jer čišćenje i održavanje čine ravnopravnu polovinu ponude.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BIZNIS PLAN v7  ·  TEST TRŽIŠTE: NIŠ, SRBIJA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Klik usluga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 koja povezuje zanatlije i servise za čišćenje sa korisnicima — sa jasnim putem od ideje do prihoda.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 za razgovor sa potencijalnim partnerima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Dve strane, isti problem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Tržište kućnih usluga u Srbiji danas funkcioniše na preporuku i sreću.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zna kome da veruje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12724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 kroz poznanike, Facebook grupe i oglasnike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zna unapred da li je čovek pouzdan, kada dolazi i po kojoj ceni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Posao se odlaže ili se plaća prvom slobodnom ponuđaču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148840"/>
            <a:ext cx="5239512" cy="2286000"/>
          </a:xfrm>
          <a:prstGeom prst="roundRect">
            <a:avLst>
              <a:gd name="adj" fmla="val 40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377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IZVOĐAČ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Nema stabilan dotok posla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127248"/>
            <a:ext cx="45994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Zavisi od sezone i usmene preporuke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 vremena ni znanja da se sam oglašava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Vredan mu je svaki kanal koji donosi klijenta bez ulaganja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709160"/>
            <a:ext cx="10817352" cy="1234440"/>
          </a:xfrm>
          <a:prstGeom prst="roundRect">
            <a:avLst>
              <a:gd name="adj" fmla="val 7407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100.274</a:t>
            </a:r>
            <a:pPr indent="0" marL="0">
              <a:buNone/>
            </a:pPr>
            <a:r>
              <a:rPr lang="en-US" sz="14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domaćinstava u Gradu Nišu</a:t>
            </a:r>
            <a:pPr indent="0" marL="0">
              <a:buNone/>
            </a:pPr>
            <a:r>
              <a:rPr lang="en-US" sz="140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  <a:pPr indent="0" marL="0">
              <a:buNone/>
            </a:pPr>
            <a:r>
              <a:rPr lang="en-US" sz="2400" b="1" dirty="0">
                <a:solidFill>
                  <a:srgbClr val="F0A0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~74.000</a:t>
            </a:r>
            <a:pPr indent="0" marL="0">
              <a:buNone/>
            </a:pPr>
            <a:r>
              <a:rPr lang="en-US" sz="14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 užem gradskom području — naše realno tržište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51560" y="537667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Izvor: Popis stanovništva, domaćinstava i stanova 2022. Prigradska naselja ulaze u statistiku grada, ali u prvim fazama nisu dostupno tržište — sve projekcije se odnose na uže gradsko područje.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REŠENJE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Kako platforma radi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Četiri koraka. Bez posredovanja u plaćanju u prvoj fazi — to drži MVP jednostavnim.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60320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Korisnik objavljuje zahtev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8404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Kategorija, opis, lokacija i željeni termin. Bez zvanja deset brojeva.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57016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31336" y="2560320"/>
            <a:ext cx="384048" cy="384048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1336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31336" y="31089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Izvođači se javljaju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31336" y="38404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 zahteve koji im odgovaraju po tipu posla i lokaciji.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28232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2552" y="2560320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02552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02552" y="31089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Posao se dogovara direktno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02552" y="38404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Korisnik bira po profilu, oceni i istoriji obavljenih poslova.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299448" y="2286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73768" y="2560320"/>
            <a:ext cx="384048" cy="384048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73768" y="31089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Ocena gradi profil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73768" y="38404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Ocene su ono što platformi daje vrednost koju Facebook grupa nema.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212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oglasnika korisnik pretražuje i zove. Ovde izvođači dolaze do korisnika, a poverenje je vidljivo unapred.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USLUGA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Dve vertikale koje se dopunjuju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Zanatski posao je vredan ali redak i sezonski. Čišćenje je jeftino ali stalno. Zajedno rešavaju sezonalnost koja ubija klasične majstorske aplikacije.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14600"/>
            <a:ext cx="5303520" cy="2926080"/>
          </a:xfrm>
          <a:prstGeom prst="roundRect">
            <a:avLst>
              <a:gd name="adj" fmla="val 3125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743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VISOKA VREDNOST POSLA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Zanatsko-građevinski segment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Krupni radovi: krečenje, gips, keramika, renoviranje kupatila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Podovi, termoizolacija i fasade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Hitne intervencije: vodoinstalacije, struja, bela tehnika, bravarija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514600"/>
            <a:ext cx="5239512" cy="2926080"/>
          </a:xfrm>
          <a:prstGeom prst="roundRect">
            <a:avLst>
              <a:gd name="adj" fmla="val 3125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74320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VISOKA FREKVENCIJA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3017520"/>
            <a:ext cx="4599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Održavanje i čistoća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520440"/>
            <a:ext cx="45994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Redovno i generalno čišćenje stanova i kancelarija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Pranje prozora i peglanje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Dubinsko pranje nameštaja i tepiha, auto-detailing na adresi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Fazi 1 se ne otvaraju sve kategorije — kreće se sa 3–4 najtraženije, identifikovane u Fazi 0.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KONKURENCIJA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 kim se zapravo takmičimo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Konkurencija postoji — samo nije u obliku direktne platforme. Tvrditi suprotno bilo bi najbrži način da izgubimo kredibilitet.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51760"/>
          <a:ext cx="1081735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42336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Stvarna alternativa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Njihova prednost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Naša prednost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Usmena preporuka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Potpuno poverenje, nula troška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Dostupnost odmah, kada preporuke nema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 grupe za Niš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Postojeća zajednica, besplatno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Struktura, ocene, istorija — grupa nema pamćenje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Opšti oglasnici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Ogroman saobraćaj i prepoznatljivost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Specijalizacija: filteri i profili pravljeni za usluge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Domaće majstorske aplikacije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Prednost prvog na tržištu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Dve vertikale umesto jedne, posvećenost jednom gradu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Faze 1: pregled aktivnih domaćih platformi — koje kategorije pokrivaju, kako naplaćuju, koliko su prisutne u Nišu.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DO PRIHODA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Fazni akcioni plan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faza se pokreće tek kada prethodna dostigne svoj KPI — nema trošenja budžeta na platformu koja još nema šta da ponudi.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3364992"/>
            <a:ext cx="9966960" cy="32004"/>
          </a:xfrm>
          <a:prstGeom prst="rect">
            <a:avLst/>
          </a:prstGeom>
          <a:solidFill>
            <a:srgbClr val="D5DEDF"/>
          </a:solidFill>
          <a:ln w="12700">
            <a:solidFill>
              <a:srgbClr val="D5DE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58468" y="3127248"/>
            <a:ext cx="512064" cy="512064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8468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Validacija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Mesec 1–2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1832" y="4526280"/>
            <a:ext cx="1545336" cy="365760"/>
          </a:xfrm>
          <a:prstGeom prst="roundRect">
            <a:avLst>
              <a:gd name="adj" fmla="val 200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45262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koda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98748" y="3127248"/>
            <a:ext cx="512064" cy="512064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8748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26080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Mesec 2–4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82112" y="4526280"/>
            <a:ext cx="1545336" cy="365760"/>
          </a:xfrm>
          <a:prstGeom prst="roundRect">
            <a:avLst>
              <a:gd name="adj" fmla="val 200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82112" y="45262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Besplatno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39028" y="3127248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39028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Akvizicija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Mesec 4–8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22392" y="4526280"/>
            <a:ext cx="1545336" cy="365760"/>
          </a:xfrm>
          <a:prstGeom prst="roundRect">
            <a:avLst>
              <a:gd name="adj" fmla="val 200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45262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Kritična masa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79308" y="3127248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9308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06640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Monetizacija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6640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Mesec 8–10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62672" y="4526280"/>
            <a:ext cx="1545336" cy="365760"/>
          </a:xfrm>
          <a:prstGeom prst="roundRect">
            <a:avLst>
              <a:gd name="adj" fmla="val 200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62672" y="45262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Prvi prihod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419588" y="3127248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19588" y="3127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646920" y="38404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Skaliranje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46920" y="4187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Mesec 12+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902952" y="4526280"/>
            <a:ext cx="1545336" cy="365760"/>
          </a:xfrm>
          <a:prstGeom prst="roundRect">
            <a:avLst>
              <a:gd name="adj" fmla="val 20000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02952" y="4526280"/>
            <a:ext cx="1545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 gradovi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Ukupno potrebno ulaganje u novcu za prvih 12 meseci: oko 3.000–4.000 EUR. Glavno ulaganje je vreme, ne kapital.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 0–2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Validacija, MVP i cold start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Najteži deo posla se dešava pre nego što se naplati prvi dinar.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529584" cy="3520440"/>
          </a:xfrm>
          <a:prstGeom prst="roundRect">
            <a:avLst>
              <a:gd name="adj" fmla="val 2597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231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0 · MESEC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Validacija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9809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WhatsApp i Google forma — bez koda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Ručno spajanje 10–15 izvođača i 20–30 klijenata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Beleženje: koje kategorije se traže, koliko se naplaćuje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5029200"/>
            <a:ext cx="2980944" cy="502920"/>
          </a:xfrm>
          <a:prstGeom prst="roundRect">
            <a:avLst>
              <a:gd name="adj" fmla="val 14545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502920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10 ručno posredovanih poslova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194560"/>
            <a:ext cx="3529584" cy="3520440"/>
          </a:xfrm>
          <a:prstGeom prst="roundRect">
            <a:avLst>
              <a:gd name="adj" fmla="val 2597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4231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1 · MESEC 2–4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2697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709160" y="3200400"/>
            <a:ext cx="29809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objava zahteva, kontakt, ocena — bez plaćanja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 3–4 najtraženije kategorije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Paralelno: registracija firme i osnivački ugovor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5029200"/>
            <a:ext cx="2980944" cy="502920"/>
          </a:xfrm>
          <a:prstGeom prst="roundRect">
            <a:avLst>
              <a:gd name="adj" fmla="val 14545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18888" y="502920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20 objava bez ručne intervencije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83880" y="2194560"/>
            <a:ext cx="3529584" cy="3520440"/>
          </a:xfrm>
          <a:prstGeom prst="roundRect">
            <a:avLst>
              <a:gd name="adj" fmla="val 2597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42316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2 · MESEC 4–8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58200" y="2697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Akvizicija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458200" y="3200400"/>
            <a:ext cx="29809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Prvo ponuda, pa tražnja — zahtev bez ponude gubi klijenta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Izvođači: pozivi, zanatske grupe, građevinske pijace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Klijenti: lokalni Facebook i Instagram oglasi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58200" y="5029200"/>
            <a:ext cx="2980944" cy="502920"/>
          </a:xfrm>
          <a:prstGeom prst="roundRect">
            <a:avLst>
              <a:gd name="adj" fmla="val 14545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67928" y="502920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50–100 izvođača, 500+ klijenata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 3–4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Monetizacija i skaliranje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Naplata se uvodi tek kada izvođač već dobija poslove besplatno i vidi vrednost.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669280" cy="3200400"/>
          </a:xfrm>
          <a:prstGeom prst="roundRect">
            <a:avLst>
              <a:gd name="adj" fmla="val 2857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603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3 · MESEC 8–10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Uvođenje naplate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pretplata agencija ide prva — najstabilniji izvor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Lead-model i TOP promocije; početna cena testirana naniže od 300 RSD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partnerstva poslednja — traže postojeći saobraćaj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10 plaćenih B2B pretplata i pozitivan mesečni prihod od leadova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9400" y="2331720"/>
            <a:ext cx="4873752" cy="3200400"/>
          </a:xfrm>
          <a:prstGeom prst="roundRect">
            <a:avLst>
              <a:gd name="adj" fmla="val 2857"/>
            </a:avLst>
          </a:prstGeom>
          <a:solidFill>
            <a:srgbClr val="10333B"/>
          </a:solidFill>
          <a:ln w="12700">
            <a:solidFill>
              <a:srgbClr val="1033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5603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4 · MESEC 12+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Beograd i regija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949440" y="333756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Priručnik za novi grad: šta je radilo u Nišu i kojim redosledom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Licenca ili franšiza umesto sopstvenog tima po gradu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47091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8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pozitivan neto prihod u Nišu tri uzastopna meseca pre pokretanja novog tržišta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KupujemProdajem: dugo besplatan oglasnik dok se ne stekne kritična masa — plaćene funkcije dolaze kasnije, kao dodatak za one koji već imaju koristi, ne kao uslov za ulazak.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PUNOM KAPACITETU · FAZA 3+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Finansijska projekcija — Niš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 nije prognoza za prvu godinu, već ciljno stanje kada platforma radi punim kapacitetom. Vreme do njega: 18–24 meseca.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606040"/>
          <a:ext cx="1081735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33672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Kanal prihoda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Pretpostavka obima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RSD godišnje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godišnje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Zanatski B2B leadovi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2.500 projekata × 2 izvođača × 300 RSD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~12.800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Zanatske TOP promocije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premijum profila × 2.500 RSD × 12 meseci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Leadovi za čišćenje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 instant poslova × 150 RSD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pretplata (agencije)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servisa × 3.500 RSD × 12 meseci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Affiliate partnerstva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Procenat od prodaje materijala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UKUPAN BRUTO PRIHOD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Integrisani ekosistem — Niš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3.480.000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~29.700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Provera u odnosu na tržište: 2.500 zanatskih projekata godišnje je oko 3,4% od ~74.000 domaćinstava užeg gradskog područja. Red veličine je realan, ali počiva na pretpostavci koliko često domaćinstvo angažuje majstora — to se meri u Fazi 0.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6355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Operativni troškovi: oko 3.500 EUR godišnje (serveri 600 · marketing 2.400 · knjigovodstvo 500), bez naknade za rad osnivača.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OSETLJIVOST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 scenarija umesto jedne brojke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 kapacitet je cilj, ne pretpostavka. I pri upola manjem obimu platforma ostaje profitabilna — jer su fiksni troškovi izuzetno niski.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2514600"/>
          <a:ext cx="72237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183880" y="2514600"/>
            <a:ext cx="3319272" cy="3429000"/>
          </a:xfrm>
          <a:prstGeom prst="roundRect">
            <a:avLst>
              <a:gd name="adj" fmla="val 2755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ovo znači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03920" y="32461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 nije bankrot — rizik je sporiji rast od očekivanog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Fiksni troškovi ostaju ispod 3.500 EUR u svim scenarijima</a:t>
            </a:r>
            <a:endParaRPr lang="en-US" sz="12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 isplativosti se dostiže već pri trećini ciljnog obima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3–4 · PUN KAPACITET, NIŠ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Neto dobit — prvi cilj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926080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29.700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92608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bruto prihod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0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03504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operativni troškovi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0" y="2377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26.200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9144000" y="3337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C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neto dobit godišnje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2423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C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66760" y="242316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C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2194560" y="4297680"/>
            <a:ext cx="7772400" cy="1371600"/>
          </a:xfrm>
          <a:prstGeom prst="roundRect">
            <a:avLst>
              <a:gd name="adj" fmla="val 6667"/>
            </a:avLst>
          </a:prstGeom>
          <a:solidFill>
            <a:srgbClr val="1B4B56"/>
          </a:solidFill>
          <a:ln w="12700">
            <a:solidFill>
              <a:srgbClr val="1B4B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45262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 je dobit platforme, ne plata po osnivaču. Za dvoje ljudi sa punim angažovanjem ovaj iznos nije dovoljan — zato sloj rasta koji sledi nije dodatak planu, nego njegov deo.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GODINA 2–3 · NAKON FAZE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Četiri poluge rasta prihoda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Udvostručavanje broja korisnika u Nišu je spor i skup put — broj domaćinstava je ograničen. Ove poluge menjaju zaradu po transakciji, ne broj korisnika.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5285232" cy="1600200"/>
          </a:xfrm>
          <a:prstGeom prst="roundRect">
            <a:avLst>
              <a:gd name="adj" fmla="val 5714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42032"/>
            <a:ext cx="384048" cy="384048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523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Veći prihod po transakciji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017520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kao procenat od vrednosti krupnih poslova umesto fiksnog lead-a; garancija posla kao plaćena dodatna usluga.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285232" cy="1600200"/>
          </a:xfrm>
          <a:prstGeom prst="roundRect">
            <a:avLst>
              <a:gd name="adj" fmla="val 5714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542032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5237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Novi tokovi prihoda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Provizija od finansiranja radova na rate preko banke; fiksni oglasni prostor za dobavljače materijala.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85232" cy="1600200"/>
          </a:xfrm>
          <a:prstGeom prst="roundRect">
            <a:avLst>
              <a:gd name="adj" fmla="val 5714"/>
            </a:avLst>
          </a:prstGeom>
          <a:solidFill>
            <a:srgbClr val="EAF2F3"/>
          </a:solidFill>
          <a:ln w="12700">
            <a:solidFill>
              <a:srgbClr val="EAF2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4370832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352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ugovori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4846320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Godišnji ugovori sa stambenim zajednicama i mesečni paketi facility managementa za kancelarije — veliki tiket, mala prodajna baza.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85232" cy="1600200"/>
          </a:xfrm>
          <a:prstGeom prst="roundRect">
            <a:avLst>
              <a:gd name="adj" fmla="val 5714"/>
            </a:avLst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370832"/>
            <a:ext cx="384048" cy="384048"/>
          </a:xfrm>
          <a:prstGeom prst="ellipse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43525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Geografsko širenje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92240" y="4846320"/>
            <a:ext cx="4736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Licenca ili franšiza za partnere u drugim gradovima — pristup platformi i brendu bez sopstvenog tima po gradu.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Franšizni prihodi nisu uračunati u projekciju koja sledi — zavise od pregovora sa budućim partnerima.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KONZERVATIVNA PROCENA · GODINA 2–3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Dodatni potencijal prihoda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grad, ista baza korisnika — drugačiji način zarađivanja po transakciji.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68880"/>
          <a:ext cx="108173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776472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stavka prihoda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Pretpostavka obima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RSD godišnje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godišnje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fee — krupni projekti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projekata × 150.000 RSD × 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ugovori — stambene zgrade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zgrada × 8.000 RSD × 12 meseci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1.920.000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~16.300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management — kancelarije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prostora × 10.000 RSD × 12 meseci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~15.300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Provizija od finansiranja radova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odobrenih rata × 150.000 RSD × 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Fiksni oglasni prostor dobavljača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dobavljača × 3.000 RSD × 12 meseci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~3.050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DODATNI POTENCIJAL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dostizanju Faze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5.130.000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~43.650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 se postepeno kroz Godinu 2 i 3, ne odjednom. Uz oko 1.000–1.500 EUR dodatnih troškova za upravljanje ugovorima.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3840480" cy="3840480"/>
          </a:xfrm>
          <a:prstGeom prst="ellipse">
            <a:avLst/>
          </a:prstGeom>
          <a:solidFill>
            <a:srgbClr val="1B4B56"/>
          </a:solidFill>
          <a:ln w="12700">
            <a:solidFill>
              <a:srgbClr val="1B4B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GODINA 2–3 · NAKON FAZE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Kuda ovo vodi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CB4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26.200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· osnovni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27889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120640" y="260604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65–70k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521208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neto dobit godišnje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Sloj rasta otprilike udvostručuje neto dobit u odnosu na osnovni plan — u istom gradu, bez čekanja na osvajanje novih tržišta. Tek na ovom nivou projekat postaje realna osnova za zaradu dvoje partnera sa punim angažovanjem.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može da ne uspe — i šta je plan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koji ovo ne vidi u prezentaciji sam će postaviti ista pitanja. Bolje da ih postavimo mi.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14600"/>
          <a:ext cx="108173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  <a:gridCol w="6245352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Rizik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Verovatnoća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Naš odgovor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3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Klijent objavi zahtev i ne dobije nijednu ponudu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Visoka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Ponuda se gradi pre tražnje; osnivači ručno zovu izvođače dok baza ne postane samoodrživa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Posao se dogovori i nastavi mimo platforme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Visoka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Naplata se veže za pristup novom klijentu, ne za transakciju — vrednost je stalan dotok novih klijenata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Izvođači ne žele da plaćaju leadove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Srednja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Naplata tek kada izvođač već dobija poslove besplatno; cena se testira naniže; B2B pretplata je stabilniji prvi izvor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Loš kvalitet kvari reputaciju platforme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Srednja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Provera pri registraciji i uklanjanje ispod praga ocene — bolje 50 proverenih nego 300 nasumičnih profila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Osnivači nemaju vremena uz redovan posao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Visoka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0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Najozbiljniji rizik: jasna podela uloga i faze koje traju dva meseca, a ne dve nedelje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3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754880"/>
            <a:ext cx="3108960" cy="3108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572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SLEDEĆI KORACI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4980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tražimo od partnera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394960" cy="3246120"/>
          </a:xfrm>
          <a:prstGeom prst="roundRect">
            <a:avLst>
              <a:gd name="adj" fmla="val 2817"/>
            </a:avLst>
          </a:prstGeom>
          <a:solidFill>
            <a:srgbClr val="1B4B56"/>
          </a:solidFill>
          <a:ln w="12700">
            <a:solidFill>
              <a:srgbClr val="1B4B5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Otvoreno o zaradi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88036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prvih 12–18 meseci projekat ne isplaćuje naknadu nikome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rade uz postojeći posao; prihod se reinvestira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Prelazak na puno radno vreme tek iz ostvarenog prihoda, ne iz projekcije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A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Ulaganje u novcu je malo (3.000–4.000 EUR), u vremenu veliko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2148840"/>
            <a:ext cx="514807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Prvi koraci zajedno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720840" y="2880360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880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2779776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Dogovor o ulogama i udelima — pisano, pre svega ostalog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3447288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3346704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Registracija firme i osnivački ugovor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20840" y="4014216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4014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391363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Pokretanje Faze 0: prvih 10 ručno posredovanih poslova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4581144"/>
            <a:ext cx="310896" cy="310896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4581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78040" y="4480560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Pregled konkurencije na domaćem tržištu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usluga  ·  Niš, Srbija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Klik usluga — Biznis plan v7</dc:title>
  <dc:subject>PptxGenJS Presentation</dc:subject>
  <dc:creator>Klik usluga</dc:creator>
  <cp:lastModifiedBy>Klik usluga</cp:lastModifiedBy>
  <cp:revision>1</cp:revision>
  <dcterms:created xsi:type="dcterms:W3CDTF">2026-08-11T16:06:34Z</dcterms:created>
  <dcterms:modified xsi:type="dcterms:W3CDTF">2026-08-11T16:06:34Z</dcterms:modified>
</cp:coreProperties>
</file>